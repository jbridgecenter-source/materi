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BAB 6 · TATA BAHASA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737360"/>
            <a:ext cx="7589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Aktivitas Sehari-hari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612648" y="2606040"/>
            <a:ext cx="7589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を・で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612648" y="3383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Makan apa, minum apa, ngapain? Yuk kenalan sama partikel を dan cara mengajak teman.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1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o KK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penanda objek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 menandai OBJEK — benda yang dikenai aksi. Minum APA? ジュースを のみます.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ジュースをのみます。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juusu o nomimasu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Minum jus.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6 · Aktivitas Sehari-hari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2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 o shimasu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melakukan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KB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します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します = melakukan. Tempelkan ke kegiatan: olahraga, permainan, atau acara. サッカーを します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main bola.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テニスをします。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tenisu o shimasu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Bermain tenis.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6 · Aktivitas Sehari-hari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3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Nani o shimasu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ngapain?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なに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を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します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bertanya "melakukan apa?": なに (apa) + を + しますか.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にちようびなにをしますか。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nichiyoubi nani o shimasu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Hari Minggu ngapain?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6 · Aktivitas Sehari-hari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4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 / Nani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 cara baca 何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なん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/ </a:t>
            </a:r>
            <a:pPr algn="ctr" indent="0" marL="0">
              <a:buNone/>
            </a:pPr>
            <a:r>
              <a:rPr lang="en-US" sz="2100" b="1" dirty="0">
                <a:solidFill>
                  <a:srgbClr val="138A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なに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Huruf 何 punya dua bacaan. なん sebelum です atau bunyi d/t/n (なんですか). なに di luar itu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(なにを).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それはなんですか。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sore wa nan desu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Itu apa?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6 · Aktivitas Sehari-hari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5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 + de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 kegiatan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F7F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</a:t>
            </a:r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 menunjukkan TEMPAT kegiatan dilakukan. (Beda dengan で kendaraan di Bab 5, ya!)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えきでしんぶんをかいます。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eki de shinbun o kaimasu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Beli koran di stasiun.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6 · Aktivitas Sehari-hari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6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~masen ka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ajakan sopan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ませんか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Untuk mengajak dengan sopan: "maukah...?" / "bagaimana kalau...?"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いっしょにきょうとへいきませんか。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issho ni Kyouto e ikimasen ka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Mau pergi ke Kyoto bareng?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6 · Aktivitas Sehari-hari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7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~mashou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ayo!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2E916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KK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</a:t>
            </a:r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ましょう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"Ayo / mari kita...". Untuk mengajak, atau untuk menerima ajakan orang lain.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いっしょにひるごはんをたべましょう。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issho ni hirugohan o tabemashou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Ayo makan siang bareng.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6 · Aktivitas Sehari-hari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05740"/>
            <a:ext cx="502920" cy="490118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12648" y="425196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0A2342"/>
          </a:solidFill>
          <a:ln>
            <a:solidFill>
              <a:srgbClr val="0A2342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8</a:t>
            </a:r>
            <a:endParaRPr lang="en-US" sz="900" dirty="0"/>
          </a:p>
        </p:txBody>
      </p:sp>
      <p:sp>
        <p:nvSpPr>
          <p:cNvPr id="4" name="Text 1"/>
          <p:cNvSpPr txBox="1"/>
          <p:nvPr/>
        </p:nvSpPr>
        <p:spPr>
          <a:xfrm>
            <a:off x="612648" y="786384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~ka (oh, ...ya?)</a:t>
            </a:r>
            <a:pPr indent="0" marL="0">
              <a:buNone/>
            </a:pPr>
            <a:r>
              <a:rPr lang="en-US" sz="23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</a:t>
            </a:r>
            <a:pPr indent="0" marL="0">
              <a:buNone/>
            </a:pPr>
            <a:r>
              <a:rPr lang="en-US" sz="1300" b="1" i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paham info baru</a:t>
            </a:r>
            <a:endParaRPr lang="en-US" sz="2300" dirty="0"/>
          </a:p>
        </p:txBody>
      </p:sp>
      <p:sp>
        <p:nvSpPr>
          <p:cNvPr id="5" name="Shape 2"/>
          <p:cNvSpPr/>
          <p:nvPr/>
        </p:nvSpPr>
        <p:spPr>
          <a:xfrm>
            <a:off x="612648" y="1472184"/>
            <a:ext cx="7909560" cy="886968"/>
          </a:xfrm>
          <a:prstGeom prst="roundRect">
            <a:avLst>
              <a:gd name="adj" fmla="val 824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612648" y="1472184"/>
            <a:ext cx="790956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8B5C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です</a:t>
            </a:r>
            <a:pPr algn="ctr" indent="0" marL="0">
              <a:buNone/>
            </a:pPr>
            <a:r>
              <a:rPr lang="en-US" sz="21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</a:t>
            </a:r>
            <a:pPr algn="ctr" indent="0" marL="0">
              <a:buNone/>
            </a:pPr>
            <a:r>
              <a:rPr lang="en-US" sz="2100" b="1" dirty="0">
                <a:solidFill>
                  <a:srgbClr val="EF4F4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640080" y="25420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2A33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か juga dipakai saat menerima info baru lalu paham, mirip "oh, begitu ya?". Nadanya turun.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12648" y="3730752"/>
            <a:ext cx="7909560" cy="1060704"/>
          </a:xfrm>
          <a:prstGeom prst="roundRect">
            <a:avLst>
              <a:gd name="adj" fmla="val 6897"/>
            </a:avLst>
          </a:prstGeom>
          <a:solidFill>
            <a:srgbClr val="FCFAF2"/>
          </a:solidFill>
          <a:ln w="12700">
            <a:solidFill>
              <a:srgbClr val="FCFAF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859536" y="3840480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A4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CONTOH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859536" y="4005072"/>
            <a:ext cx="7498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24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きょうとですか。いいですね。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859536" y="4352544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2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Kyouto desu ka. ii desu ne</a:t>
            </a:r>
            <a:pPr indent="0" marL="0">
              <a:buNone/>
            </a:pPr>
            <a:r>
              <a:rPr lang="en-US" sz="950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→  </a:t>
            </a:r>
            <a:pPr indent="0" marL="0">
              <a:buNone/>
            </a:pPr>
            <a:r>
              <a:rPr lang="en-US" sz="1100" b="1" dirty="0">
                <a:solidFill>
                  <a:srgbClr val="1F8A5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Oh, ke Kyoto ya? Asyik.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612648" y="4846320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AA3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Minna no Nihongo I  ·  Bab 6 · Aktivitas Sehari-hari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12648" y="475488"/>
            <a:ext cx="1371600" cy="292608"/>
          </a:xfrm>
          <a:prstGeom prst="roundRect">
            <a:avLst>
              <a:gd name="adj" fmla="val 50000"/>
            </a:avLst>
          </a:prstGeom>
          <a:solidFill>
            <a:srgbClr val="EDAE2F"/>
          </a:solidFill>
          <a:ln>
            <a:solidFill>
              <a:srgbClr val="EDAE2F"/>
            </a:solidFill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RANGKUMAN</a:t>
            </a:r>
            <a:endParaRPr lang="en-US" sz="900" dirty="0"/>
          </a:p>
        </p:txBody>
      </p:sp>
      <p:sp>
        <p:nvSpPr>
          <p:cNvPr id="5" name="Text 2"/>
          <p:cNvSpPr txBox="1"/>
          <p:nvPr/>
        </p:nvSpPr>
        <p:spPr>
          <a:xfrm>
            <a:off x="612648" y="822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Pola Bab 6</a:t>
            </a:r>
            <a:endParaRPr lang="en-US" sz="2300" dirty="0"/>
          </a:p>
        </p:txBody>
      </p:sp>
      <p:sp>
        <p:nvSpPr>
          <p:cNvPr id="6" name="Shape 3"/>
          <p:cNvSpPr/>
          <p:nvPr/>
        </p:nvSpPr>
        <p:spPr>
          <a:xfrm>
            <a:off x="612648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740664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1188720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Objek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を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800600" y="1609344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928616" y="1755648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5376672" y="1609344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Melakukan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を します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12648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740664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1"/>
          <p:cNvSpPr txBox="1"/>
          <p:nvPr/>
        </p:nvSpPr>
        <p:spPr>
          <a:xfrm>
            <a:off x="1188720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Ngapain?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なにを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4800600" y="2331720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928616" y="2478024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5376672" y="2331720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Nan / nani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なん・なに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740664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20" name="Text 17"/>
          <p:cNvSpPr txBox="1"/>
          <p:nvPr/>
        </p:nvSpPr>
        <p:spPr>
          <a:xfrm>
            <a:off x="1188720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Tempat kegiatan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で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4800600" y="3054096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4928616" y="3200400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23" name="Text 20"/>
          <p:cNvSpPr txBox="1"/>
          <p:nvPr/>
        </p:nvSpPr>
        <p:spPr>
          <a:xfrm>
            <a:off x="5376672" y="3054096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Ajakan sopan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ませんか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12648" y="3776472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5" name="Text 22"/>
          <p:cNvSpPr txBox="1"/>
          <p:nvPr/>
        </p:nvSpPr>
        <p:spPr>
          <a:xfrm>
            <a:off x="740664" y="3922776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1188720" y="3776472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Ayo!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ましょう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800600" y="3776472"/>
            <a:ext cx="3730752" cy="612648"/>
          </a:xfrm>
          <a:prstGeom prst="roundRect">
            <a:avLst>
              <a:gd name="adj" fmla="val 8955"/>
            </a:avLst>
          </a:prstGeom>
          <a:solidFill>
            <a:srgbClr val="133A6B"/>
          </a:solidFill>
          <a:ln w="12700">
            <a:solidFill>
              <a:srgbClr val="133A6B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4928616" y="3922776"/>
            <a:ext cx="320040" cy="320040"/>
          </a:xfrm>
          <a:prstGeom prst="ellipse">
            <a:avLst/>
          </a:prstGeom>
          <a:solidFill>
            <a:srgbClr val="EDAE2F"/>
          </a:solidFill>
          <a:ln>
            <a:solidFill>
              <a:srgbClr val="EDAE2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7214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29" name="Text 26"/>
          <p:cNvSpPr txBox="1"/>
          <p:nvPr/>
        </p:nvSpPr>
        <p:spPr>
          <a:xfrm>
            <a:off x="5376672" y="3776472"/>
            <a:ext cx="306324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Oh, ...ya?</a:t>
            </a:r>
            <a:pPr indent="0" marL="0">
              <a:buNone/>
            </a:pPr>
            <a:r>
              <a:rPr lang="en-US" sz="1100" b="1" dirty="0">
                <a:solidFill>
                  <a:srgbClr val="F5C5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か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21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11896" y="82296"/>
            <a:ext cx="740664" cy="749808"/>
          </a:xfrm>
          <a:prstGeom prst="roundRect">
            <a:avLst>
              <a:gd name="adj" fmla="val 987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3" name="Image 0" descr="/home/user/materi/logo_jbridgecen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35340" y="214884"/>
            <a:ext cx="493776" cy="48097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0" y="15087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またね！</a:t>
            </a:r>
            <a:endParaRPr lang="en-US" sz="6400" dirty="0"/>
          </a:p>
        </p:txBody>
      </p:sp>
      <p:sp>
        <p:nvSpPr>
          <p:cNvPr id="5" name="Text 2"/>
          <p:cNvSpPr txBox="1"/>
          <p:nvPr/>
        </p:nvSpPr>
        <p:spPr>
          <a:xfrm>
            <a:off x="0" y="2743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C9D6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matane — sampai jumpa!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457200" y="338328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DAE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Coba ajak temanmu pakai ~masen ka!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Minna no Nihongo I - Bab 6 - Tata Bahasa</dc:title>
  <dc:subject>PptxGenJS Presentation</dc:subject>
  <dc:creator>PptxGenJS</dc:creator>
  <cp:lastModifiedBy>PptxGenJS</cp:lastModifiedBy>
  <cp:revision>1</cp:revision>
  <dcterms:created xsi:type="dcterms:W3CDTF">2026-09-25T03:47:29Z</dcterms:created>
  <dcterms:modified xsi:type="dcterms:W3CDTF">2026-09-25T03:47:29Z</dcterms:modified>
</cp:coreProperties>
</file>